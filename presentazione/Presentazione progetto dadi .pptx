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Old Standard TT"/>
      <p:regular r:id="rId22"/>
      <p:bold r:id="rId23"/>
      <p: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OldStandardTT-regular.fntdata"/><Relationship Id="rId21" Type="http://schemas.openxmlformats.org/officeDocument/2006/relationships/slide" Target="slides/slide16.xml"/><Relationship Id="rId24" Type="http://schemas.openxmlformats.org/officeDocument/2006/relationships/font" Target="fonts/OldStandardTT-italic.fntdata"/><Relationship Id="rId23" Type="http://schemas.openxmlformats.org/officeDocument/2006/relationships/font" Target="fonts/OldStandardT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6ada0b64a_0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6ada0b64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a50b68002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a50b6800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a50b68002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a50b680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a50b68002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a50b6800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90357f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9035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a50b68002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a50b6800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6ada0b64a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6ada0b64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6ada0b64a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6ada0b64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6ada0b64a_0_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6ada0b64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a7b63c285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a7b63c2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6ada0b64a_0_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6ada0b64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0.png"/><Relationship Id="rId13" Type="http://schemas.openxmlformats.org/officeDocument/2006/relationships/image" Target="../media/image1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1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Calcolo valore lancio dadi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Daniele Grimaldi, Leonardo Ferraretto, Edoardo Landini.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90250" y="526350"/>
            <a:ext cx="8359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300"/>
              <a:t>Dato un video di sequenze di lanci di dadi riconoscere il punteggio complessivo di ciascun lancio</a:t>
            </a:r>
            <a:endParaRPr sz="3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288275"/>
            <a:ext cx="8520600" cy="9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500"/>
              <a:t>Suddivisione lavori</a:t>
            </a:r>
            <a:endParaRPr sz="350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97725" y="1226675"/>
            <a:ext cx="2576700" cy="39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/>
              <a:t>Riconoscitore frame</a:t>
            </a:r>
            <a:r>
              <a:rPr lang="it" sz="2700"/>
              <a:t>: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45720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Utilizzo di algoritmo per calcolare la distanza e contatori per assicurare la stabilitá</a:t>
            </a:r>
            <a:endParaRPr sz="1700"/>
          </a:p>
          <a:p>
            <a:pPr indent="45720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Edoardo Landini</a:t>
            </a:r>
            <a:endParaRPr sz="1700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6257775" y="1226675"/>
            <a:ext cx="2488500" cy="39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/>
              <a:t>Estrazione e decodifica cifra</a:t>
            </a:r>
            <a:r>
              <a:rPr lang="it" sz="2700"/>
              <a:t>: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Utilizzo di un algoritmo dbscan(in principio isodata) per estrazione cluster, algoritmi per pulizia e selezione </a:t>
            </a:r>
            <a:r>
              <a:rPr lang="it" sz="1700"/>
              <a:t>cluster, knn per riconoscimento cifra</a:t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Daniele Grimaldi</a:t>
            </a:r>
            <a:endParaRPr sz="170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347400" y="1226675"/>
            <a:ext cx="2537400" cy="39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/>
              <a:t>Riconoscimento Pixel</a:t>
            </a:r>
            <a:r>
              <a:rPr lang="it" sz="2700"/>
              <a:t> dadi</a:t>
            </a:r>
            <a:r>
              <a:rPr lang="it" sz="2700"/>
              <a:t>: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Utilizzo di un albero decisionale per riconoscere i frame, morfologia matematica e algoritmi per la suddivisione dei dadi attaccati</a:t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Leonardo Ferraretto</a:t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0" y="0"/>
            <a:ext cx="9144000" cy="8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2"/>
                </a:solidFill>
              </a:rPr>
              <a:t>Funzionamento Generale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79" name="Google Shape;79;p16" title="ultim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0088"/>
            <a:ext cx="9144003" cy="4188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ina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0225"/>
            <a:ext cx="9144000" cy="42532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type="title"/>
          </p:nvPr>
        </p:nvSpPr>
        <p:spPr>
          <a:xfrm>
            <a:off x="0" y="0"/>
            <a:ext cx="9144000" cy="8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2"/>
                </a:solidFill>
              </a:rPr>
              <a:t>Riconoscimento Frame Utilizzabili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estrazuioned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7863"/>
            <a:ext cx="9144003" cy="3647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 title="caccases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4586"/>
            <a:ext cx="9144003" cy="3134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 title="deco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6867"/>
            <a:ext cx="9144000" cy="3769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4475" y="154890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Cart</a:t>
            </a:r>
            <a:endParaRPr/>
          </a:p>
        </p:txBody>
      </p:sp>
      <p:sp>
        <p:nvSpPr>
          <p:cNvPr id="106" name="Google Shape;10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Feature :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Estrazione di 4 canali: L, a, b e Texture (deviazione standard locale).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Gestione Memoria: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Campionamento casuale limitato a 100.000 pixel per immagine di sfondo.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Bilanciamento: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Forzatura del rapporto Sfondo/Dadi a un massimo di 2:1.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Parametro di Training: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MinLeafSize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impostato a 100 per controllare la profondità dell'albero.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Maschera binaria delle componenti candidate.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9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500"/>
              <a:t>Prestazioni cart</a:t>
            </a:r>
            <a:endParaRPr sz="3500"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544225" y="1661925"/>
            <a:ext cx="3693300" cy="25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/>
              <a:t>Train: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Accuracy:  99.72%</a:t>
            </a:r>
            <a:endParaRPr sz="1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IoU: 0.8619</a:t>
            </a:r>
            <a:endParaRPr sz="1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Precision: 91.41%</a:t>
            </a:r>
            <a:endParaRPr sz="1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Recall: 93.79%</a:t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4572000" y="1661925"/>
            <a:ext cx="3693300" cy="25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/>
              <a:t>Test</a:t>
            </a:r>
            <a:r>
              <a:rPr lang="it" sz="2700"/>
              <a:t>: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Accuracy:  99.75%</a:t>
            </a:r>
            <a:endParaRPr sz="1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IoU: 0.8526</a:t>
            </a:r>
            <a:endParaRPr sz="1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Precision: 90.72%</a:t>
            </a:r>
            <a:endParaRPr sz="1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Recall: 93.41%</a:t>
            </a:r>
            <a:endParaRPr sz="1700"/>
          </a:p>
          <a:p>
            <a:pPr indent="457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9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500"/>
              <a:t>Prestazioni estrattore di maschere cifre</a:t>
            </a:r>
            <a:endParaRPr sz="3500"/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estratti in maniera pulita o quasi</a:t>
            </a:r>
            <a:endParaRPr sz="1500"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544238" y="1615325"/>
            <a:ext cx="3693300" cy="15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/>
              <a:t>Train: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180/233</a:t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4637000" y="1661925"/>
            <a:ext cx="3693300" cy="15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/>
              <a:t>Test: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32/47</a:t>
            </a:r>
            <a:endParaRPr sz="1700"/>
          </a:p>
          <a:p>
            <a:pPr indent="457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21" name="Google Shape;121;p23" title="cifra_0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950" y="3754275"/>
            <a:ext cx="542925" cy="5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 title="cifra_0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6550" y="3782825"/>
            <a:ext cx="4953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 title="cifra_0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4100" y="3274350"/>
            <a:ext cx="523875" cy="5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 title="cifra_01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0225" y="3274350"/>
            <a:ext cx="5429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cifra_03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8925" y="3274349"/>
            <a:ext cx="542925" cy="5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 title="cifra_008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50213" y="3778075"/>
            <a:ext cx="6286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 title="cifra_017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41850" y="3235113"/>
            <a:ext cx="58102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 title="cifra_137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32800" y="3235125"/>
            <a:ext cx="58102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 title="cifra_036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60775" y="3225328"/>
            <a:ext cx="504825" cy="581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 title="cifra_005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41851" y="3728281"/>
            <a:ext cx="542925" cy="583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 title="cifra_001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09888" y="3778088"/>
            <a:ext cx="5619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 title="cifra_018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660775" y="3775125"/>
            <a:ext cx="504825" cy="53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4475" y="154890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Knn</a:t>
            </a:r>
            <a:endParaRPr/>
          </a:p>
        </p:txBody>
      </p:sp>
      <p:sp>
        <p:nvSpPr>
          <p:cNvPr id="138" name="Google Shape;138;p2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Gestione Dataset: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Bilanciamento forzato (undersampling) a </a:t>
            </a:r>
            <a:r>
              <a:rPr b="1"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18 campioni/classe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per allinearsi alla classe di minoranza (cifra '1').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Feature: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6 descrittori di forma invarianti: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Circolarità, 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Numero di Eulero, 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Eccentricità, 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Solidità, 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Momenti di Hu in scala 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logaritmica</a:t>
            </a: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Parametri k-NN:</a:t>
            </a:r>
            <a:endParaRPr b="1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Nn = 3.                                                      Standardize = true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0" y="0"/>
            <a:ext cx="91440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Prestazioni knn sui dati di training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/>
              <a:t>Dataset con 18 rappresentanti per classe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44" name="Google Shape;144;p25" title="knn performance.png"/>
          <p:cNvPicPr preferRelativeResize="0"/>
          <p:nvPr/>
        </p:nvPicPr>
        <p:blipFill rotWithShape="1">
          <a:blip r:embed="rId3">
            <a:alphaModFix/>
          </a:blip>
          <a:srcRect b="4340" l="9966" r="8140" t="2704"/>
          <a:stretch/>
        </p:blipFill>
        <p:spPr>
          <a:xfrm>
            <a:off x="1234363" y="915825"/>
            <a:ext cx="6675276" cy="422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0" y="0"/>
            <a:ext cx="91440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Prestazioni knn sui dati di test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/>
              <a:t>Dataset con 18 rappresentanti per classe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363" y="915825"/>
            <a:ext cx="6675276" cy="42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9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500"/>
              <a:t>Prestazioni generali</a:t>
            </a:r>
            <a:endParaRPr sz="3500"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544225" y="1661925"/>
            <a:ext cx="3693300" cy="25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/>
              <a:t>Train: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144/232</a:t>
            </a:r>
            <a:endParaRPr sz="17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precisione 62%</a:t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4572000" y="1661925"/>
            <a:ext cx="3693300" cy="25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/>
              <a:t>Test:</a:t>
            </a:r>
            <a:endParaRPr sz="2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20/45 </a:t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precisione 44%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4475" y="154890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Migliorie</a:t>
            </a:r>
            <a:endParaRPr/>
          </a:p>
        </p:txBody>
      </p:sp>
      <p:sp>
        <p:nvSpPr>
          <p:cNvPr id="163" name="Google Shape;163;p2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estrazione pixel dadi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estrazione maschere cifre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scelta cluster cifre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riconoscimento del 3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performance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it"/>
              <a:t>ingrandimento dataset knn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